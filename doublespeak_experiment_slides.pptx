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4b167781bf4fcb" /><Relationship Type="http://schemas.openxmlformats.org/officeDocument/2006/relationships/extended-properties" Target="/docProps/app.xml" Id="Rc1d14086f2b341fb" /><Relationship Type="http://schemas.openxmlformats.org/officeDocument/2006/relationships/officeDocument" Target="/ppt/presentation.xml" Id="R118f34f197d641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27eebe0ee4d4899"/>
  </p:sldMasterIdLst>
  <p:notesMasterIdLst>
    <p:notesMasterId xmlns:r="http://schemas.openxmlformats.org/officeDocument/2006/relationships" r:id="Raed3898d16934c6b"/>
  </p:notesMasterIdLst>
  <p:sldIdLst>
    <p:sldId xmlns:r="http://schemas.openxmlformats.org/officeDocument/2006/relationships" id="256" r:id="R9427fa256e6f40cc"/>
    <p:sldId xmlns:r="http://schemas.openxmlformats.org/officeDocument/2006/relationships" id="257" r:id="R23b699c1477a4844"/>
    <p:sldId xmlns:r="http://schemas.openxmlformats.org/officeDocument/2006/relationships" id="258" r:id="R878aca64524f47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a6f7d7691c4aef" /><Relationship Type="http://schemas.openxmlformats.org/officeDocument/2006/relationships/slideMaster" Target="/ppt/slideMasters/slideMaster1.xml" Id="R127eebe0ee4d4899" /><Relationship Type="http://schemas.openxmlformats.org/officeDocument/2006/relationships/notesMaster" Target="/ppt/notesMasters/notesMaster1.xml" Id="Raed3898d16934c6b" /><Relationship Type="http://schemas.openxmlformats.org/officeDocument/2006/relationships/presProps" Target="/ppt/presProps.xml" Id="R8dddb73b3aaa4a37" /><Relationship Type="http://schemas.openxmlformats.org/officeDocument/2006/relationships/tableStyles" Target="/ppt/tableStyles.xml" Id="R787c1f4fc5c54f6c" /><Relationship Type="http://schemas.openxmlformats.org/officeDocument/2006/relationships/slide" Target="/ppt/slides/slide1.xml" Id="R9427fa256e6f40cc" /><Relationship Type="http://schemas.openxmlformats.org/officeDocument/2006/relationships/slide" Target="/ppt/slides/slide2.xml" Id="R23b699c1477a4844" /><Relationship Type="http://schemas.openxmlformats.org/officeDocument/2006/relationships/slide" Target="/ppt/slides/slide3.xml" Id="R878aca64524f47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910156eef4143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a00a52572543f0" /><Relationship Type="http://schemas.openxmlformats.org/officeDocument/2006/relationships/notesMaster" Target="/ppt/notesMasters/notesMaster1.xml" Id="R69db2108e91348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3216b4a2af4186" /><Relationship Type="http://schemas.openxmlformats.org/officeDocument/2006/relationships/notesMaster" Target="/ppt/notesMasters/notesMaster1.xml" Id="Rdff76bf6f82944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5849c8cc974e6d" /><Relationship Type="http://schemas.openxmlformats.org/officeDocument/2006/relationships/notesMaster" Target="/ppt/notesMasters/notesMaster1.xml" Id="R007c8ee846f648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1fa08d39347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07ee45c4b44154" /><Relationship Type="http://schemas.openxmlformats.org/officeDocument/2006/relationships/slideLayout" Target="/ppt/slideLayouts/slideLayout1.xml" Id="Rc11ba9feebd749a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1ba9feebd749a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0a6b325844583" /><Relationship Type="http://schemas.openxmlformats.org/officeDocument/2006/relationships/notesSlide" Target="/ppt/notesSlides/notesSlide1.xml" Id="R9c931a289b8a4ab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bbc5d23a947a3" /><Relationship Type="http://schemas.openxmlformats.org/officeDocument/2006/relationships/notesSlide" Target="/ppt/notesSlides/notesSlide2.xml" Id="R0d5be08217c846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03d1bc3c394f2d" /><Relationship Type="http://schemas.openxmlformats.org/officeDocument/2006/relationships/notesSlide" Target="/ppt/notesSlides/notesSlide3.xml" Id="Ra91a97bc034546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ccent-rule">
            <a:extLst xmlns:a="http://schemas.openxmlformats.org/drawingml/2006/main">
              <a:ext uri="{FF2B5EF4-FFF2-40B4-BE49-F238E27FC236}">
                <a16:creationId xmlns:a16="http://schemas.microsoft.com/office/drawing/2014/main" id="{F131AAD3-68D6-43BF-A12D-13A7CFC8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04925"/>
            <a:ext cx="876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1C3421-04F0-4A46-BC28-F12D8C128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590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COMPUTATION-AWARE AUDITING</a:t>
            </a:r>
          </a:p>
        </p:txBody>
      </p:sp>
      <p:sp>
        <p:nvSpPr>
          <p:cNvPr id="3" name="main-question">
            <a:extLst xmlns:a="http://schemas.openxmlformats.org/drawingml/2006/main">
              <a:ext uri="{FF2B5EF4-FFF2-40B4-BE49-F238E27FC236}">
                <a16:creationId xmlns:a16="http://schemas.microsoft.com/office/drawing/2014/main" id="{2101D78A-F336-450B-B70F-A27DE62E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0572750" cy="2428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Can semantic remapping hide
from a text-only auditor?</a:t>
            </a:r>
          </a:p>
        </p:txBody>
      </p:sp>
      <p:sp>
        <p:nvSpPr>
          <p:cNvPr id="4" name="scope">
            <a:extLst xmlns:a="http://schemas.openxmlformats.org/drawingml/2006/main">
              <a:ext uri="{FF2B5EF4-FFF2-40B4-BE49-F238E27FC236}">
                <a16:creationId xmlns:a16="http://schemas.microsoft.com/office/drawing/2014/main" id="{60018EE7-FEA7-4859-B097-D0B9AA5F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t>Doublespeak MVP  •  3 OpenAI models  •  10 remapping attacks + 10 matched clean controls per model</a:t>
            </a:r>
          </a:p>
        </p:txBody>
      </p:sp>
      <p:sp>
        <p:nvSpPr>
          <p:cNvPr id="5" name="definition">
            <a:extLst xmlns:a="http://schemas.openxmlformats.org/drawingml/2006/main">
              <a:ext uri="{FF2B5EF4-FFF2-40B4-BE49-F238E27FC236}">
                <a16:creationId xmlns:a16="http://schemas.microsoft.com/office/drawing/2014/main" id="{9300350C-1CA9-48A1-B79A-32912411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76900"/>
            <a:ext cx="10668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Blind spot: the target adopts the hidden meaning, while an independent auditor misses it.</a:t>
            </a:r>
          </a:p>
        </p:txBody>
      </p:sp>
      <p:sp>
        <p:nvSpPr>
          <p:cNvPr id="6" name="footer-1">
            <a:extLst xmlns:a="http://schemas.openxmlformats.org/drawingml/2006/main">
              <a:ext uri="{FF2B5EF4-FFF2-40B4-BE49-F238E27FC236}">
                <a16:creationId xmlns:a16="http://schemas.microsoft.com/office/drawing/2014/main" id="{5687101E-3938-4605-AB4A-4887C9CB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1039182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method-title">
            <a:extLst xmlns:a="http://schemas.openxmlformats.org/drawingml/2006/main">
              <a:ext uri="{FF2B5EF4-FFF2-40B4-BE49-F238E27FC236}">
                <a16:creationId xmlns:a16="http://schemas.microsoft.com/office/drawing/2014/main" id="{ADB7C557-D857-45B9-B62D-08DEE7DC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1442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7076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Each example was tested twice—with no response sharing</a:t>
            </a:r>
          </a:p>
        </p:txBody>
      </p:sp>
      <p:sp>
        <p:nvSpPr>
          <p:cNvPr id="2" name="method-subtitle">
            <a:extLst xmlns:a="http://schemas.openxmlformats.org/drawingml/2006/main">
              <a:ext uri="{FF2B5EF4-FFF2-40B4-BE49-F238E27FC236}">
                <a16:creationId xmlns:a16="http://schemas.microsoft.com/office/drawing/2014/main" id="{F71200B4-5931-4D00-8975-1E58E4EE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33475"/>
            <a:ext cx="7620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Same model, temperature 0, fresh API calls</a:t>
            </a:r>
          </a:p>
        </p:txBody>
      </p:sp>
      <p:cxnSp>
        <p:nvCxnSpPr>
          <p:cNvPr id="18" name="timeline-line"/>
          <p:cNvCxnSpPr/>
          <p:nvPr/>
        </p:nvCxnSpPr>
        <p:spPr>
          <a:xfrm xmlns:a="http://schemas.openxmlformats.org/drawingml/2006/main">
            <a:off x="952500" y="2857500"/>
            <a:ext cx="952500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4" name="node-1">
            <a:extLst xmlns:a="http://schemas.openxmlformats.org/drawingml/2006/main">
              <a:ext uri="{FF2B5EF4-FFF2-40B4-BE49-F238E27FC236}">
                <a16:creationId xmlns:a16="http://schemas.microsoft.com/office/drawing/2014/main" id="{50579076-418E-49F3-A447-46E146F1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node-2">
            <a:extLst xmlns:a="http://schemas.openxmlformats.org/drawingml/2006/main">
              <a:ext uri="{FF2B5EF4-FFF2-40B4-BE49-F238E27FC236}">
                <a16:creationId xmlns:a16="http://schemas.microsoft.com/office/drawing/2014/main" id="{3569B87A-5F97-4F05-AB60-776D4292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714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ode-3">
            <a:extLst xmlns:a="http://schemas.openxmlformats.org/drawingml/2006/main">
              <a:ext uri="{FF2B5EF4-FFF2-40B4-BE49-F238E27FC236}">
                <a16:creationId xmlns:a16="http://schemas.microsoft.com/office/drawing/2014/main" id="{318E16E0-1845-421A-821B-E74492671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146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abel-1">
            <a:extLst xmlns:a="http://schemas.openxmlformats.org/drawingml/2006/main">
              <a:ext uri="{FF2B5EF4-FFF2-40B4-BE49-F238E27FC236}">
                <a16:creationId xmlns:a16="http://schemas.microsoft.com/office/drawing/2014/main" id="{2438E0E9-E34A-4F98-842F-1662B0E5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2098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CALL 1</a:t>
            </a:r>
          </a:p>
        </p:txBody>
      </p:sp>
      <p:sp>
        <p:nvSpPr>
          <p:cNvPr id="8" name="label-2">
            <a:extLst xmlns:a="http://schemas.openxmlformats.org/drawingml/2006/main">
              <a:ext uri="{FF2B5EF4-FFF2-40B4-BE49-F238E27FC236}">
                <a16:creationId xmlns:a16="http://schemas.microsoft.com/office/drawing/2014/main" id="{32DF18A8-573D-458D-A8EC-2FFB9A92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2098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CALL 2</a:t>
            </a:r>
          </a:p>
        </p:txBody>
      </p:sp>
      <p:sp>
        <p:nvSpPr>
          <p:cNvPr id="9" name="label-3">
            <a:extLst xmlns:a="http://schemas.openxmlformats.org/drawingml/2006/main">
              <a:ext uri="{FF2B5EF4-FFF2-40B4-BE49-F238E27FC236}">
                <a16:creationId xmlns:a16="http://schemas.microsoft.com/office/drawing/2014/main" id="{3C6F5D14-779A-4F13-ACC2-40DCA1FF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20980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DECISION</a:t>
            </a:r>
          </a:p>
        </p:txBody>
      </p:sp>
      <p:sp>
        <p:nvSpPr>
          <p:cNvPr id="10" name="step-1">
            <a:extLst xmlns:a="http://schemas.openxmlformats.org/drawingml/2006/main">
              <a:ext uri="{FF2B5EF4-FFF2-40B4-BE49-F238E27FC236}">
                <a16:creationId xmlns:a16="http://schemas.microsoft.com/office/drawing/2014/main" id="{674CB0B5-50AB-4983-BD4B-86F9A7EB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352800"/>
            <a:ext cx="3095625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7620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Target semantic check
Does the model interpret the benign substitute as the intended harmful concept?</a:t>
            </a:r>
          </a:p>
        </p:txBody>
      </p:sp>
      <p:sp>
        <p:nvSpPr>
          <p:cNvPr id="11" name="step-2">
            <a:extLst xmlns:a="http://schemas.openxmlformats.org/drawingml/2006/main">
              <a:ext uri="{FF2B5EF4-FFF2-40B4-BE49-F238E27FC236}">
                <a16:creationId xmlns:a16="http://schemas.microsoft.com/office/drawing/2014/main" id="{FECA577C-6F44-42D6-98A8-663DCE3D0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52800"/>
            <a:ext cx="3095625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7620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Independent text auditor
A fresh call sees only the prompt. It detects and attempts to recover the mapping.</a:t>
            </a:r>
          </a:p>
        </p:txBody>
      </p:sp>
      <p:sp>
        <p:nvSpPr>
          <p:cNvPr id="12" name="step-3">
            <a:extLst xmlns:a="http://schemas.openxmlformats.org/drawingml/2006/main">
              <a:ext uri="{FF2B5EF4-FFF2-40B4-BE49-F238E27FC236}">
                <a16:creationId xmlns:a16="http://schemas.microsoft.com/office/drawing/2014/main" id="{E93DF072-62AF-4745-9724-7D2B3A85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52800"/>
            <a:ext cx="25717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Blind-spot test
Target adopted mapping
AND
auditor did not detect it</a:t>
            </a:r>
          </a:p>
        </p:txBody>
      </p:sp>
      <p:sp>
        <p:nvSpPr>
          <p:cNvPr id="13" name="call-count-band">
            <a:extLst xmlns:a="http://schemas.openxmlformats.org/drawingml/2006/main">
              <a:ext uri="{FF2B5EF4-FFF2-40B4-BE49-F238E27FC236}">
                <a16:creationId xmlns:a16="http://schemas.microsoft.com/office/drawing/2014/main" id="{64942119-618F-4B9C-8378-1BA2BC22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67375"/>
            <a:ext cx="10648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ll-count">
            <a:extLst xmlns:a="http://schemas.openxmlformats.org/drawingml/2006/main">
              <a:ext uri="{FF2B5EF4-FFF2-40B4-BE49-F238E27FC236}">
                <a16:creationId xmlns:a16="http://schemas.microsoft.com/office/drawing/2014/main" id="{134D4DC2-559C-4F5D-ACD9-314A27C87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096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0343B"/>
                </a:solidFill>
                <a:latin typeface="Arial"/>
                <a:ea typeface="Arial"/>
                <a:cs typeface="Arial"/>
              </a:defRPr>
            </a:pPr>
            <a:r>
              <a:t>Per model: 20 examples × 2 independent calls = 40 primary API calls</a:t>
            </a:r>
          </a:p>
        </p:txBody>
      </p:sp>
      <p:sp>
        <p:nvSpPr>
          <p:cNvPr id="15" name="footer-2">
            <a:extLst xmlns:a="http://schemas.openxmlformats.org/drawingml/2006/main">
              <a:ext uri="{FF2B5EF4-FFF2-40B4-BE49-F238E27FC236}">
                <a16:creationId xmlns:a16="http://schemas.microsoft.com/office/drawing/2014/main" id="{1B600467-D964-42D4-A911-F7CB6A0C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54249418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sults-title">
            <a:extLst xmlns:a="http://schemas.openxmlformats.org/drawingml/2006/main">
              <a:ext uri="{FF2B5EF4-FFF2-40B4-BE49-F238E27FC236}">
                <a16:creationId xmlns:a16="http://schemas.microsoft.com/office/drawing/2014/main" id="{881CF599-516C-4B7B-A6A3-1FD457C4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11144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All three models produced the same ceiling result</a:t>
            </a:r>
          </a:p>
        </p:txBody>
      </p:sp>
      <p:sp>
        <p:nvSpPr>
          <p:cNvPr id="2" name="results-subtitle">
            <a:extLst xmlns:a="http://schemas.openxmlformats.org/drawingml/2006/main">
              <a:ext uri="{FF2B5EF4-FFF2-40B4-BE49-F238E27FC236}">
                <a16:creationId xmlns:a16="http://schemas.microsoft.com/office/drawing/2014/main" id="{4F30A2B1-6D4B-4FB0-ADE9-17E2DA42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95375"/>
            <a:ext cx="8096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10 attacks + 10 matched clean controls per model</a:t>
            </a:r>
          </a:p>
        </p:txBody>
      </p:sp>
      <p:graphicFrame>
        <p:nvGraphicFramePr>
          <p:cNvPr id="10" name="results-table"/>
          <p:cNvGraphicFramePr/>
          <p:nvPr/>
        </p:nvGraphicFramePr>
        <p:xfrm>
          <a:off xmlns:a="http://schemas.openxmlformats.org/drawingml/2006/main" x="400050" y="1809750"/>
          <a:ext xmlns:a="http://schemas.openxmlformats.org/drawingml/2006/main" cx="11382375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1714500"/>
                <a:gridCol w="1857375"/>
                <a:gridCol w="1857375"/>
                <a:gridCol w="1666875"/>
                <a:gridCol w="1714500"/>
              </a:tblGrid>
              <a:tr h="666750">
                <a:tc>
                  <a:txBody>
                    <a:bodyPr/>
                    <a:lstStyle/>
                    <a:p>
                      <a:r>
                        <a:t>Model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Target</a:t>
                      </a:r>
                    </a:p>
                    <a:p>
                      <a:r>
                        <a:t>adoption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Auditor</a:t>
                      </a:r>
                    </a:p>
                    <a:p>
                      <a:r>
                        <a:t>sensitivity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Mapping</a:t>
                      </a:r>
                    </a:p>
                    <a:p>
                      <a:r>
                        <a:t>recovery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False</a:t>
                      </a:r>
                    </a:p>
                    <a:p>
                      <a:r>
                        <a:t>positives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Blind</a:t>
                      </a:r>
                    </a:p>
                    <a:p>
                      <a:r>
                        <a:t>spots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gpt-5.6-sol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gpt-4o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  <a:tr h="666750">
                <a:tc>
                  <a:txBody>
                    <a:bodyPr/>
                    <a:lstStyle/>
                    <a:p>
                      <a:r>
                        <a:t>gpt-3.5-turbo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interpretation-band">
            <a:extLst xmlns:a="http://schemas.openxmlformats.org/drawingml/2006/main">
              <a:ext uri="{FF2B5EF4-FFF2-40B4-BE49-F238E27FC236}">
                <a16:creationId xmlns:a16="http://schemas.microsoft.com/office/drawing/2014/main" id="{A17A6F82-994C-4106-B246-9CBD40A4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05375"/>
            <a:ext cx="11382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nterpretation-label">
            <a:extLst xmlns:a="http://schemas.openxmlformats.org/drawingml/2006/main">
              <a:ext uri="{FF2B5EF4-FFF2-40B4-BE49-F238E27FC236}">
                <a16:creationId xmlns:a16="http://schemas.microsoft.com/office/drawing/2014/main" id="{A1FAFEA4-BD52-4CC6-86F3-D3374A53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05400"/>
            <a:ext cx="2095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Interpretation</a:t>
            </a:r>
          </a:p>
        </p:txBody>
      </p:sp>
      <p:sp>
        <p:nvSpPr>
          <p:cNvPr id="6" name="interpretation-copy">
            <a:extLst xmlns:a="http://schemas.openxmlformats.org/drawingml/2006/main">
              <a:ext uri="{FF2B5EF4-FFF2-40B4-BE49-F238E27FC236}">
                <a16:creationId xmlns:a16="http://schemas.microsoft.com/office/drawing/2014/main" id="{F569AB29-24AF-438D-B036-AE21AF4EA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8775"/>
            <a:ext cx="106680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83333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t>The remappings succeeded—but the text-only auditor caught every one. Harder attacks are needed before testing whether internal-state monitoring adds signal.</a:t>
            </a:r>
          </a:p>
        </p:txBody>
      </p:sp>
      <p:sp>
        <p:nvSpPr>
          <p:cNvPr id="7" name="footer-3">
            <a:extLst xmlns:a="http://schemas.openxmlformats.org/drawingml/2006/main">
              <a:ext uri="{FF2B5EF4-FFF2-40B4-BE49-F238E27FC236}">
                <a16:creationId xmlns:a16="http://schemas.microsoft.com/office/drawing/2014/main" id="{7FF194F7-BB99-4643-93BC-04ABBC40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6477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4559319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2026-07-21T13:20:59.7240000Z</dcterms:created>
  <dcterms:modified xsi:type="dcterms:W3CDTF">2026-07-21T13:20:59.7240000Z</dcterms:modified>
</coreProperties>
</file>
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f1d259350c4a7c" /><Relationship Type="http://schemas.openxmlformats.org/officeDocument/2006/relationships/extended-properties" Target="/docProps/app.xml" Id="Rb5310d6232bd460b" /><Relationship Type="http://schemas.openxmlformats.org/officeDocument/2006/relationships/officeDocument" Target="/ppt/presentation.xml" Id="Rfbf30e69588f41e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099da30dc34ca2"/>
  </p:sldMasterIdLst>
  <p:notesMasterIdLst>
    <p:notesMasterId xmlns:r="http://schemas.openxmlformats.org/officeDocument/2006/relationships" r:id="R1420010812504005"/>
  </p:notesMasterIdLst>
  <p:sldIdLst>
    <p:sldId xmlns:r="http://schemas.openxmlformats.org/officeDocument/2006/relationships" id="256" r:id="Rbdbfaead930647b5"/>
    <p:sldId xmlns:r="http://schemas.openxmlformats.org/officeDocument/2006/relationships" id="257" r:id="R41819d38f09843bb"/>
    <p:sldId xmlns:r="http://schemas.openxmlformats.org/officeDocument/2006/relationships" id="258" r:id="R8ca7ff50fa54410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12023011455423f" /><Relationship Type="http://schemas.openxmlformats.org/officeDocument/2006/relationships/slideMaster" Target="/ppt/slideMasters/slideMaster1.xml" Id="R2c099da30dc34ca2" /><Relationship Type="http://schemas.openxmlformats.org/officeDocument/2006/relationships/notesMaster" Target="/ppt/notesMasters/notesMaster1.xml" Id="R1420010812504005" /><Relationship Type="http://schemas.openxmlformats.org/officeDocument/2006/relationships/presProps" Target="/ppt/presProps.xml" Id="Rdcbb3aaa60064206" /><Relationship Type="http://schemas.openxmlformats.org/officeDocument/2006/relationships/tableStyles" Target="/ppt/tableStyles.xml" Id="R5869c4be1a16417e" /><Relationship Type="http://schemas.openxmlformats.org/officeDocument/2006/relationships/slide" Target="/ppt/slides/slide1.xml" Id="Rbdbfaead930647b5" /><Relationship Type="http://schemas.openxmlformats.org/officeDocument/2006/relationships/slide" Target="/ppt/slides/slide2.xml" Id="R41819d38f09843bb" /><Relationship Type="http://schemas.openxmlformats.org/officeDocument/2006/relationships/slide" Target="/ppt/slides/slide3.xml" Id="R8ca7ff50fa5441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17be0d6b4f47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202c6e25b241d1" /><Relationship Type="http://schemas.openxmlformats.org/officeDocument/2006/relationships/notesMaster" Target="/ppt/notesMasters/notesMaster1.xml" Id="Rd57c69156ef440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3c187e69904d2d" /><Relationship Type="http://schemas.openxmlformats.org/officeDocument/2006/relationships/notesMaster" Target="/ppt/notesMasters/notesMaster1.xml" Id="R740bbe6f47e344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e0b1425b5a4f4b" /><Relationship Type="http://schemas.openxmlformats.org/officeDocument/2006/relationships/notesMaster" Target="/ppt/notesMasters/notesMaster1.xml" Id="Rece1b03d58e44d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fde4c24a1a4a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3bb4a4fe9a4f8f" /><Relationship Type="http://schemas.openxmlformats.org/officeDocument/2006/relationships/slideLayout" Target="/ppt/slideLayouts/slideLayout1.xml" Id="R81c89934235942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c89934235942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37962838a4bdd" /><Relationship Type="http://schemas.openxmlformats.org/officeDocument/2006/relationships/notesSlide" Target="/ppt/notesSlides/notesSlide1.xml" Id="Rb1c5fe312e724a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2febb87434f10" /><Relationship Type="http://schemas.openxmlformats.org/officeDocument/2006/relationships/notesSlide" Target="/ppt/notesSlides/notesSlide2.xml" Id="Rfe0645e744b349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ea109e5d0249ae" /><Relationship Type="http://schemas.openxmlformats.org/officeDocument/2006/relationships/notesSlide" Target="/ppt/notesSlides/notesSlide3.xml" Id="Re3ff1ef99d3248b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ccent-rule">
            <a:extLst xmlns:a="http://schemas.openxmlformats.org/drawingml/2006/main">
              <a:ext uri="{FF2B5EF4-FFF2-40B4-BE49-F238E27FC236}">
                <a16:creationId xmlns:a16="http://schemas.microsoft.com/office/drawing/2014/main" id="{F17D30D1-67C2-43DB-882C-71BBA424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04925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28511F52-1C95-4667-A7A3-1AE47740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5905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COMPUTATION-AWARE AUDITING</a:t>
            </a:r>
          </a:p>
        </p:txBody>
      </p:sp>
      <p:sp>
        <p:nvSpPr>
          <p:cNvPr id="3" name="main-question">
            <a:extLst xmlns:a="http://schemas.openxmlformats.org/drawingml/2006/main">
              <a:ext uri="{FF2B5EF4-FFF2-40B4-BE49-F238E27FC236}">
                <a16:creationId xmlns:a16="http://schemas.microsoft.com/office/drawing/2014/main" id="{326571F1-F123-40B6-ADEA-CCFC57F8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10572750" cy="2428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Can semantic remapping hide
from a text-only auditor?</a:t>
            </a:r>
          </a:p>
        </p:txBody>
      </p:sp>
      <p:sp>
        <p:nvSpPr>
          <p:cNvPr id="4" name="scope">
            <a:extLst xmlns:a="http://schemas.openxmlformats.org/drawingml/2006/main">
              <a:ext uri="{FF2B5EF4-FFF2-40B4-BE49-F238E27FC236}">
                <a16:creationId xmlns:a16="http://schemas.microsoft.com/office/drawing/2014/main" id="{5E487870-CF29-404C-8E97-27591E4B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30343B"/>
                </a:solidFill>
                <a:latin typeface="Arial"/>
                <a:ea typeface="Arial"/>
                <a:cs typeface="Arial"/>
              </a:defRPr>
            </a:pPr>
            <a:r>
              <a:t>Doublespeak MVP  •  3 OpenAI models  •  10 remapping attacks + 10 matched clean controls per model</a:t>
            </a:r>
          </a:p>
        </p:txBody>
      </p:sp>
      <p:sp>
        <p:nvSpPr>
          <p:cNvPr id="5" name="definition">
            <a:extLst xmlns:a="http://schemas.openxmlformats.org/drawingml/2006/main">
              <a:ext uri="{FF2B5EF4-FFF2-40B4-BE49-F238E27FC236}">
                <a16:creationId xmlns:a16="http://schemas.microsoft.com/office/drawing/2014/main" id="{010407EA-ECB4-4A29-867E-568E8FFA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76900"/>
            <a:ext cx="10668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t>Blind spot: the target adopts the hidden meaning, while an independent auditor misses it.</a:t>
            </a:r>
          </a:p>
        </p:txBody>
      </p:sp>
      <p:sp>
        <p:nvSpPr>
          <p:cNvPr id="6" name="footer-1">
            <a:extLst xmlns:a="http://schemas.openxmlformats.org/drawingml/2006/main">
              <a:ext uri="{FF2B5EF4-FFF2-40B4-BE49-F238E27FC236}">
                <a16:creationId xmlns:a16="http://schemas.microsoft.com/office/drawing/2014/main" id="{91A3CDA0-81C6-4E30-AB7A-587C0CBE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647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t>1/3</a:t>
            </a:r>
          </a:p>
        </p:txBody>
      </p:sp>
    </p:spTree>
    <p:extLst>
      <p:ext uri="{BB962C8B-B14F-4D97-AF65-F5344CB8AC3E}">
        <p14:creationId xmlns:p14="http://schemas.microsoft.com/office/powerpoint/2010/main" val="11193401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ethod-title">
            <a:extLst xmlns:a="http://schemas.openxmlformats.org/drawingml/2006/main">
              <a:ext uri="{FF2B5EF4-FFF2-40B4-BE49-F238E27FC236}">
                <a16:creationId xmlns:a16="http://schemas.microsoft.com/office/drawing/2014/main" id="{5065A7E2-4280-44BB-94FF-759E758E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11144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Two fresh calls test each example independently</a:t>
            </a:r>
          </a:p>
        </p:txBody>
      </p:sp>
      <p:sp>
        <p:nvSpPr>
          <p:cNvPr id="2" name="method-subtitle">
            <a:extLst xmlns:a="http://schemas.openxmlformats.org/drawingml/2006/main">
              <a:ext uri="{FF2B5EF4-FFF2-40B4-BE49-F238E27FC236}">
                <a16:creationId xmlns:a16="http://schemas.microsoft.com/office/drawing/2014/main" id="{4DE89F8C-15C5-4B2A-A9D9-AE5BFC89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33475"/>
            <a:ext cx="7620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t>Same model, temperature 0, fresh API calls</a:t>
            </a:r>
          </a:p>
        </p:txBody>
      </p:sp>
      <p:cxnSp>
        <p:nvCxnSpPr>
          <p:cNvPr id="18" name="timeline-line"/>
          <p:cNvCxnSpPr/>
          <p:nvPr/>
        </p:nvCxnSpPr>
        <p:spPr>
          <a:xfrm xmlns:a="http://schemas.openxmlformats.org/drawingml/2006/main">
            <a:off x="952500" y="2857500"/>
            <a:ext cx="9525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4" name="node-1">
            <a:extLst xmlns:a="http://schemas.openxmlformats.org/drawingml/2006/main">
              <a:ext uri="{FF2B5EF4-FFF2-40B4-BE49-F238E27FC236}">
                <a16:creationId xmlns:a16="http://schemas.microsoft.com/office/drawing/2014/main" id="{3D7FA586-084C-44D5-AA94-B61B5133A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7146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ode-2">
            <a:extLst xmlns:a="http://schemas.openxmlformats.org/drawingml/2006/main">
              <a:ext uri="{FF2B5EF4-FFF2-40B4-BE49-F238E27FC236}">
                <a16:creationId xmlns:a16="http://schemas.microsoft.com/office/drawing/2014/main" id="{7C9EF24F-CD3E-45DE-862B-B9001F5F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7146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ode-3">
            <a:extLst xmlns:a="http://schemas.openxmlformats.org/drawingml/2006/main">
              <a:ext uri="{FF2B5EF4-FFF2-40B4-BE49-F238E27FC236}">
                <a16:creationId xmlns:a16="http://schemas.microsoft.com/office/drawing/2014/main" id="{176681CD-725D-4580-8BA6-CD625659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7146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label-1">
            <a:extLst xmlns:a="http://schemas.openxmlformats.org/drawingml/2006/main">
              <a:ext uri="{FF2B5EF4-FFF2-40B4-BE49-F238E27FC236}">
                <a16:creationId xmlns:a16="http://schemas.microsoft.com/office/drawing/2014/main" id="{25DB33FE-6C73-4B1D-A06A-C344AEF0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2098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CALL 1</a:t>
            </a:r>
          </a:p>
        </p:txBody>
      </p:sp>
      <p:sp>
        <p:nvSpPr>
          <p:cNvPr id="8" name="label-2">
            <a:extLst xmlns:a="http://schemas.openxmlformats.org/drawingml/2006/main">
              <a:ext uri="{FF2B5EF4-FFF2-40B4-BE49-F238E27FC236}">
                <a16:creationId xmlns:a16="http://schemas.microsoft.com/office/drawing/2014/main" id="{C7374A35-67EB-4F40-8961-0519C1D3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CALL 2</a:t>
            </a:r>
          </a:p>
        </p:txBody>
      </p:sp>
      <p:sp>
        <p:nvSpPr>
          <p:cNvPr id="9" name="label-3">
            <a:extLst xmlns:a="http://schemas.openxmlformats.org/drawingml/2006/main">
              <a:ext uri="{FF2B5EF4-FFF2-40B4-BE49-F238E27FC236}">
                <a16:creationId xmlns:a16="http://schemas.microsoft.com/office/drawing/2014/main" id="{A72AC361-2BC8-4929-8D45-ECB7CE36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2098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DECISION</a:t>
            </a:r>
          </a:p>
        </p:txBody>
      </p:sp>
      <p:sp>
        <p:nvSpPr>
          <p:cNvPr id="10" name="step-1">
            <a:extLst xmlns:a="http://schemas.openxmlformats.org/drawingml/2006/main">
              <a:ext uri="{FF2B5EF4-FFF2-40B4-BE49-F238E27FC236}">
                <a16:creationId xmlns:a16="http://schemas.microsoft.com/office/drawing/2014/main" id="{0E7AE268-8FEE-4429-9384-BC78B42D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352800"/>
            <a:ext cx="3095625" cy="1809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7620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Target semantic check
Does the model interpret the benign substitute as the intended harmful concept?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C2E13AF0-0E58-4451-B5BF-BDA094FD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352800"/>
            <a:ext cx="3095625" cy="1809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7620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Independent text auditor
A fresh call sees only the prompt. It detects and attempts to recover the mapping.</a:t>
            </a:r>
          </a:p>
        </p:txBody>
      </p:sp>
      <p:sp>
        <p:nvSpPr>
          <p:cNvPr id="12" name="step-3">
            <a:extLst xmlns:a="http://schemas.openxmlformats.org/drawingml/2006/main">
              <a:ext uri="{FF2B5EF4-FFF2-40B4-BE49-F238E27FC236}">
                <a16:creationId xmlns:a16="http://schemas.microsoft.com/office/drawing/2014/main" id="{ED6D8C8A-A62D-4D72-B2CB-117D574F1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352800"/>
            <a:ext cx="257175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Blind-spot test
Target adopted mapping
AND
auditor did not detect it</a:t>
            </a:r>
          </a:p>
        </p:txBody>
      </p:sp>
      <p:sp>
        <p:nvSpPr>
          <p:cNvPr id="13" name="call-count-band">
            <a:extLst xmlns:a="http://schemas.openxmlformats.org/drawingml/2006/main">
              <a:ext uri="{FF2B5EF4-FFF2-40B4-BE49-F238E27FC236}">
                <a16:creationId xmlns:a16="http://schemas.microsoft.com/office/drawing/2014/main" id="{BDF85149-FD5E-4BEB-8CDA-83046164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67375"/>
            <a:ext cx="10648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all-count">
            <a:extLst xmlns:a="http://schemas.openxmlformats.org/drawingml/2006/main">
              <a:ext uri="{FF2B5EF4-FFF2-40B4-BE49-F238E27FC236}">
                <a16:creationId xmlns:a16="http://schemas.microsoft.com/office/drawing/2014/main" id="{B34033A9-03E5-4FE1-9F64-60F3E561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0"/>
            <a:ext cx="10096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30343B"/>
                </a:solidFill>
                <a:latin typeface="Arial"/>
                <a:ea typeface="Arial"/>
                <a:cs typeface="Arial"/>
              </a:defRPr>
            </a:pPr>
            <a:r>
              <a:t>Per model: 20 examples × 2 independent calls = 40 primary API calls</a:t>
            </a:r>
          </a:p>
        </p:txBody>
      </p:sp>
      <p:sp>
        <p:nvSpPr>
          <p:cNvPr id="15" name="footer-2">
            <a:extLst xmlns:a="http://schemas.openxmlformats.org/drawingml/2006/main">
              <a:ext uri="{FF2B5EF4-FFF2-40B4-BE49-F238E27FC236}">
                <a16:creationId xmlns:a16="http://schemas.microsoft.com/office/drawing/2014/main" id="{0A200734-CAE0-47E8-92A5-6CAD5723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647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t>2/3</a:t>
            </a:r>
          </a:p>
        </p:txBody>
      </p:sp>
    </p:spTree>
    <p:extLst>
      <p:ext uri="{BB962C8B-B14F-4D97-AF65-F5344CB8AC3E}">
        <p14:creationId xmlns:p14="http://schemas.microsoft.com/office/powerpoint/2010/main" val="5924145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results-title">
            <a:extLst xmlns:a="http://schemas.openxmlformats.org/drawingml/2006/main">
              <a:ext uri="{FF2B5EF4-FFF2-40B4-BE49-F238E27FC236}">
                <a16:creationId xmlns:a16="http://schemas.microsoft.com/office/drawing/2014/main" id="{74DBBFAE-80AC-4B12-9AEB-CCF1D64F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1442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All three models produced the same ceiling result</a:t>
            </a:r>
          </a:p>
        </p:txBody>
      </p:sp>
      <p:sp>
        <p:nvSpPr>
          <p:cNvPr id="2" name="results-subtitle">
            <a:extLst xmlns:a="http://schemas.openxmlformats.org/drawingml/2006/main">
              <a:ext uri="{FF2B5EF4-FFF2-40B4-BE49-F238E27FC236}">
                <a16:creationId xmlns:a16="http://schemas.microsoft.com/office/drawing/2014/main" id="{BB51E016-A180-4FC9-BB60-25DAF571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95375"/>
            <a:ext cx="8096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t>10 attacks + 10 matched clean controls per model</a:t>
            </a:r>
          </a:p>
        </p:txBody>
      </p:sp>
      <p:graphicFrame>
        <p:nvGraphicFramePr>
          <p:cNvPr id="10" name="results-table"/>
          <p:cNvGraphicFramePr/>
          <p:nvPr/>
        </p:nvGraphicFramePr>
        <p:xfrm>
          <a:off xmlns:a="http://schemas.openxmlformats.org/drawingml/2006/main" x="400050" y="1809750"/>
          <a:ext xmlns:a="http://schemas.openxmlformats.org/drawingml/2006/main" cx="11382375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1714500"/>
                <a:gridCol w="1857375"/>
                <a:gridCol w="1857375"/>
                <a:gridCol w="1666875"/>
                <a:gridCol w="1714500"/>
              </a:tblGrid>
              <a:tr h="66675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  <a:p>
                      <a:r>
                        <a:t>adoption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Auditor</a:t>
                      </a:r>
                    </a:p>
                    <a:p>
                      <a:r>
                        <a:t>sensitivity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Mapping</a:t>
                      </a:r>
                    </a:p>
                    <a:p>
                      <a:r>
                        <a:t>recovery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False</a:t>
                      </a:r>
                    </a:p>
                    <a:p>
                      <a:r>
                        <a:t>positives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Blind</a:t>
                      </a:r>
                    </a:p>
                    <a:p>
                      <a:r>
                        <a:t>spots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t>gpt-5.6-sol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t>gpt-4o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t>gpt-3.5-turbo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100%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interpretation-band">
            <a:extLst xmlns:a="http://schemas.openxmlformats.org/drawingml/2006/main">
              <a:ext uri="{FF2B5EF4-FFF2-40B4-BE49-F238E27FC236}">
                <a16:creationId xmlns:a16="http://schemas.microsoft.com/office/drawing/2014/main" id="{D03BB0B9-6F07-40CE-9035-12F31FAF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05375"/>
            <a:ext cx="113823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interpretation-label">
            <a:extLst xmlns:a="http://schemas.openxmlformats.org/drawingml/2006/main">
              <a:ext uri="{FF2B5EF4-FFF2-40B4-BE49-F238E27FC236}">
                <a16:creationId xmlns:a16="http://schemas.microsoft.com/office/drawing/2014/main" id="{D46AC494-F048-4B75-AE32-330A1E81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05400"/>
            <a:ext cx="2095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Interpretation</a:t>
            </a:r>
          </a:p>
        </p:txBody>
      </p:sp>
      <p:sp>
        <p:nvSpPr>
          <p:cNvPr id="6" name="interpretation-copy">
            <a:extLst xmlns:a="http://schemas.openxmlformats.org/drawingml/2006/main">
              <a:ext uri="{FF2B5EF4-FFF2-40B4-BE49-F238E27FC236}">
                <a16:creationId xmlns:a16="http://schemas.microsoft.com/office/drawing/2014/main" id="{FB5D3E16-E238-4DEC-8FA6-094CE900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38775"/>
            <a:ext cx="10668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83333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The remappings succeeded—but the text-only auditor caught every one. Harder attacks are needed before testing whether internal-state monitoring adds signal.</a:t>
            </a:r>
          </a:p>
        </p:txBody>
      </p:sp>
      <p:sp>
        <p:nvSpPr>
          <p:cNvPr id="7" name="footer-3">
            <a:extLst xmlns:a="http://schemas.openxmlformats.org/drawingml/2006/main">
              <a:ext uri="{FF2B5EF4-FFF2-40B4-BE49-F238E27FC236}">
                <a16:creationId xmlns:a16="http://schemas.microsoft.com/office/drawing/2014/main" id="{5941ADFE-16C1-4902-8067-DEE71C5BC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647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t>3/3</a:t>
            </a:r>
          </a:p>
        </p:txBody>
      </p:sp>
    </p:spTree>
    <p:extLst>
      <p:ext uri="{BB962C8B-B14F-4D97-AF65-F5344CB8AC3E}">
        <p14:creationId xmlns:p14="http://schemas.microsoft.com/office/powerpoint/2010/main" val="3840196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2026-07-21T13:22:42.8440000Z</dcterms:created>
  <dcterms:modified xsi:type="dcterms:W3CDTF">2026-07-21T13:22:42.8440000Z</dcterms:modified>
</coreProperties>
</file>